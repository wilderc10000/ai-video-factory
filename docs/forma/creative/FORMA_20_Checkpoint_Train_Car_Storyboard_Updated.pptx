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4" d="100"/>
          <a:sy n="34" d="100"/>
        </p:scale>
        <p:origin x="796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ailcar_to_luxury_forest_cabin_story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57200"/>
            <a:ext cx="7498079" cy="53054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1097280"/>
            <a:ext cx="6675120" cy="4297680"/>
          </a:xfrm>
          <a:prstGeom prst="roundRect">
            <a:avLst/>
          </a:prstGeom>
          <a:solidFill>
            <a:srgbClr val="000000"/>
          </a:solidFill>
          <a:ln w="15240"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5F7FF"/>
                </a:solidFill>
                <a:latin typeface="Aptos"/>
              </a:rPr>
              <a:t>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F"/>
                </a:solidFill>
                <a:latin typeface="Aptos"/>
              </a:rPr>
              <a:t>20-Checkpoint Storyboard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5760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AEB5C9"/>
                </a:solidFill>
                <a:latin typeface="Aptos"/>
              </a:rPr>
              <a:t>Updated creative process for Video #2: Abandoned Train Car → Luxury Forest Cabin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703320"/>
            <a:ext cx="2697480" cy="41148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803904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NO MAGICAL BUILDING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703320"/>
            <a:ext cx="2697480" cy="41148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3803904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70–90% PROCESS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389120"/>
            <a:ext cx="2697480" cy="41148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489704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SMALLER TRANSITIONS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389120"/>
            <a:ext cx="2697480" cy="41148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4489704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VIRTUAL STUDIO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726679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EB5C9"/>
                </a:solidFill>
                <a:latin typeface="Aptos"/>
              </a:rPr>
              <a:t>Train-car storyboard + FORMA Virtual Studio doctrine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Why We Updated the Slideshow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The Alpine baseline proved the system can run, but broad stages create magical construction.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206240" cy="53035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F"/>
                </a:solidFill>
                <a:latin typeface="Aptos"/>
              </a:rPr>
              <a:t>Experiment #1: 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Looked beautiful frame-by-frame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Pipeline ran end-to-end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Virtual Studio became usable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Audio preservation was fixed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554480"/>
            <a:ext cx="4206240" cy="530352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96AA"/>
                </a:solidFill>
                <a:latin typeface="Aptos"/>
              </a:rPr>
              <a:t>What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46888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Open frame → finished shell too fast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Interior jumped from empty to furnished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Builder often did not cause the change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Too few checkpoints forced the model to invent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554480"/>
            <a:ext cx="4114800" cy="5303520"/>
          </a:xfrm>
          <a:prstGeom prst="roundRect">
            <a:avLst/>
          </a:prstGeom>
          <a:solidFill>
            <a:srgbClr val="1B2A2C"/>
          </a:solidFill>
          <a:ln w="15240">
            <a:solidFill>
              <a:srgbClr val="45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0" y="18288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AE099"/>
                </a:solidFill>
                <a:latin typeface="Aptos"/>
              </a:rPr>
              <a:t>New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468880"/>
            <a:ext cx="3520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Move from 8 broad stages to 20 checkpoints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Animate between nearby states only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Use the railcar as a permanent visual anchor</a:t>
            </a:r>
          </a:p>
          <a:p>
            <a:pPr>
              <a:spcAft>
                <a:spcPts val="700"/>
              </a:spcAft>
              <a:defRPr sz="1900">
                <a:solidFill>
                  <a:srgbClr val="F5F7FF"/>
                </a:solidFill>
                <a:latin typeface="Aptos"/>
              </a:defRPr>
            </a:pPr>
            <a:r>
              <a:t>• Test current Wan/Nano system fairly before switching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Permanent FORMA Rule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These rules should govern every future build video and every agent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6126480" cy="114300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8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828800"/>
            <a:ext cx="594360" cy="594360"/>
          </a:xfrm>
          <a:prstGeom prst="roundRect">
            <a:avLst/>
          </a:prstGeom>
          <a:solidFill>
            <a:srgbClr val="302412"/>
          </a:solidFill>
          <a:ln w="15240">
            <a:solidFill>
              <a:srgbClr val="FFC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2938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153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5623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F"/>
                </a:solidFill>
                <a:latin typeface="Aptos"/>
              </a:rPr>
              <a:t>Checkpoint wherever someone asks “how did that get there?”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00200"/>
            <a:ext cx="6126480" cy="114300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8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594360" cy="594360"/>
          </a:xfrm>
          <a:prstGeom prst="roundRect">
            <a:avLst/>
          </a:prstGeom>
          <a:solidFill>
            <a:srgbClr val="302412"/>
          </a:solidFill>
          <a:ln w="15240">
            <a:solidFill>
              <a:srgbClr val="FFC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92938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15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185623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F"/>
                </a:solidFill>
                <a:latin typeface="Aptos"/>
              </a:rPr>
              <a:t>One major construction idea per transition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6126480" cy="114300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8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1560" y="3429000"/>
            <a:ext cx="594360" cy="594360"/>
          </a:xfrm>
          <a:prstGeom prst="roundRect">
            <a:avLst/>
          </a:prstGeom>
          <a:solidFill>
            <a:srgbClr val="302412"/>
          </a:solidFill>
          <a:ln w="15240">
            <a:solidFill>
              <a:srgbClr val="FFC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52958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153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5643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F"/>
                </a:solidFill>
                <a:latin typeface="Aptos"/>
              </a:rPr>
              <a:t>Show 70–90% of repetitive work before cutting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200400"/>
            <a:ext cx="6126480" cy="114300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8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26679" y="3429000"/>
            <a:ext cx="594360" cy="594360"/>
          </a:xfrm>
          <a:prstGeom prst="roundRect">
            <a:avLst/>
          </a:prstGeom>
          <a:solidFill>
            <a:srgbClr val="302412"/>
          </a:solidFill>
          <a:ln w="15240">
            <a:solidFill>
              <a:srgbClr val="FFC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352958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153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45643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F"/>
                </a:solidFill>
                <a:latin typeface="Aptos"/>
              </a:rPr>
              <a:t>The builder must visibly cause the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6126480" cy="114300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8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1560" y="5029200"/>
            <a:ext cx="594360" cy="594360"/>
          </a:xfrm>
          <a:prstGeom prst="roundRect">
            <a:avLst/>
          </a:prstGeom>
          <a:solidFill>
            <a:srgbClr val="302412"/>
          </a:solidFill>
          <a:ln w="15240">
            <a:solidFill>
              <a:srgbClr val="FFC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12978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153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05663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F"/>
                </a:solidFill>
                <a:latin typeface="Aptos"/>
              </a:rPr>
              <a:t>Previous real frame outranks text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800600"/>
            <a:ext cx="6126480" cy="114300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8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26679" y="5029200"/>
            <a:ext cx="594360" cy="594360"/>
          </a:xfrm>
          <a:prstGeom prst="roundRect">
            <a:avLst/>
          </a:prstGeom>
          <a:solidFill>
            <a:srgbClr val="302412"/>
          </a:solidFill>
          <a:ln w="15240">
            <a:solidFill>
              <a:srgbClr val="FFC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26679" y="5129784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C153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505663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F"/>
                </a:solidFill>
                <a:latin typeface="Aptos"/>
              </a:rPr>
              <a:t>Interior design must be earned on-screen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6720840"/>
            <a:ext cx="10058400" cy="73152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14600" y="69037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AE099"/>
                </a:solidFill>
                <a:latin typeface="Aptos"/>
              </a:rPr>
              <a:t>Goal: make the viewer feel they truly watched an abandoned railcar become a luxury cabin.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20-Checkpoint Storyboard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This replaces the previous 10-frame / 8-stage thinking with smaller, safer transitions.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ailcar_to_luxury_forest_cabin_story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3350240" cy="9446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763524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AEB5C9"/>
                </a:solidFill>
                <a:latin typeface="Aptos"/>
              </a:rPr>
              <a:t>Use this as the canonical visual plan: approve stills first, then animate between adjacent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Old Model vs. New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The problem was not only model quality — the transition size was too large.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5760720" cy="438912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96AA"/>
                </a:solidFill>
                <a:latin typeface="Aptos"/>
              </a:rPr>
              <a:t>Old broad-stage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“Build the roof”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“Finish the glass”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“Design the interior”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Model must invent too much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Results: magical construction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737360"/>
            <a:ext cx="5760720" cy="438912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2057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AE099"/>
                </a:solidFill>
                <a:latin typeface="Aptos"/>
              </a:rPr>
              <a:t>New checkpoint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97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Opening marked → opening cut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Supports → beams → joists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Glass pane 1 → glazing 80%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Interior frame → insulation → furniture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Results: visible causality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6583680"/>
            <a:ext cx="8595360" cy="5943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C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674827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C153"/>
                </a:solidFill>
                <a:latin typeface="Aptos"/>
              </a:rPr>
              <a:t>New rule: never ask the video model to solve a transition with more than one major construction idea.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Video #2 Strategy: Final Current-System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Train car is the best fair test because the object stays constant.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eckpoint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4754880" cy="3803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1508760"/>
            <a:ext cx="7863840" cy="5440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F"/>
                </a:solidFill>
                <a:latin typeface="Aptos"/>
              </a:rPr>
              <a:t>Why this concept is ideal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6949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The railcar is a fixed visual anchor across every shot.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The transformation path is understandable: clean → cut → deck → frame → glass → finish.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The final result is aspirational but still clearly the same train car.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If the current system fails even with 20 checkpoints, then provider/model quality is likely the bottleneck.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6080760"/>
            <a:ext cx="7040880" cy="50292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6245352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AE099"/>
                </a:solidFill>
                <a:latin typeface="Aptos"/>
              </a:rPr>
              <a:t>Test current Wan/Nano fairly before deciding on Higgsfield.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01 — Abandoned railcar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0:00–0:03  •  target progress 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28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Wide establish in misty pine valley; same rusty railcar, track, mountains, and forest are 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Backpack, flashlight, gloves, pry 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Builder approaches and identifies the project; open-ended curiosity hook.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cleanup, no cuts, no deck, no windows, no interior finish.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02 — Inspection +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0:03–0:06  •  target progress 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28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Three-quarter exterior at cargo side; builder opens/inspects railcar and measures/sketches facade.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Tape measure, sketch board, marker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Viewer understands which side becomes deck/window facade.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construction changes yet beyond opening/inspection.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03 — Exterior clearing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0:06–0:09  •  target progress 10%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28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Side exterior; weeds, brush, and debris are removed along the working 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Shovel, wheelbarrow, gloves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Ground next to railcar becomes workable; debris pile/source is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new deck components yet.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04 — Interior cleanout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0:09–0:12  •  target progress 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28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 doorway view; old junk, seats, insulation scraps, and trash come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Pry bar, bins, broom, respirator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 visibly clears from foreground backward; waste pile grows.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framing, insulation, glass, or furniture yet.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05 — Mark openings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0:12–0:15  •  target progress 20%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1144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Long-side exterior; window/door cut lines are measured and marked.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Chalk line, tape measure, square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Future glass locations are established before any cutting happens.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finished holes yet, no glass yet.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06 — Cut large openings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0:15–0:18  •  target progress 25%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Side exterior close/medium; sparks and panel removal make openings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Angle grinder / cutting torch, clamps, PPE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At least one opening is physically cut; second opening underway.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windows installed yet; raw metal edges remain.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07 — Interior rough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0:18–0:21  •  target progress 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 lengthwise; studs/furring begin around openings and walls.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Drill, nailer, steel/wood studs,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Frame lines explain how future finishes will attach.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insulation finish, no paneling, no decor.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08 — Structural reinforcement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0:21–0:24  •  target progress 35%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close; welded/braced edges around cut openings.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Welder, clamps, grinder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Openings are strengthened logically before glass/deck finish.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Still no glazing or complete exterior cladding.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09 — Deck supports +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0:24–0:27  •  target progress 40%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Ground-level deck side; pads/footings, material delivery, outer beam staging.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Concrete blocks/pads, lumber,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Deck support system exists before joists/boards.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floating deck boards; no finished deck.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10 — Deck beams + joists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0:27–0:30  •  target progress 45%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321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Deck-side three-quarter; joists are placed across most of span.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Impact driver, circular saw, joist hangers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Visible construction frontier: supports → beams → joists.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Deck boards not mostly complete yet.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11 — Deck boards mostly laid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0:30–0:33  •  target progress 50%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Deck-side angle; boards sweep across deck, last section still in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Impact driver, screws, circular saw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At least 70–90% of deck boarding is visibly earned.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Do not jump after one board; railings not final yet.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12 — Cladding/weatherproofing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0:33–0:36  •  target progress 55%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side; wood accents and weatherproofing start around facade.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Nail gun, weather wrap, trim 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finish begins only after openings/deck/framing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Not fully luxury exterior yet; glass not complete if not shown.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13 — Exterior transformation near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0:36–0:39  •  target progress 60%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facade; cladding nearly complete but still visibly being installed.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Paint sprayer, drill, trim, fasteners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Railcar identity preserved under refined finish.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final reveal yet; no fully styled interior.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14 — Install panoramic 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0:39–0:42  •  target progress 65%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close/medium; large glass panes carried, suctioned, set, and secured.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Glass suction cups, caulk gun, shims, drill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Openings from checkpoints 5–8 get filled logically.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Never one pane → instantly all glass without progress.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15 — Porch cover / entry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0:42–0:45  •  target progress 70%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321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Deck angle; small awning/entry cover, stairs, railing, lights.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Ladder, nailer, impact driver,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access and weather protection finish around the already-built deck.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 still not finished.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16 — Interior insulation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0:45–0:48  •  target progress 75%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 lengthwise; insulation and service cavities progress down railcar.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Driver, insulation knife, gloves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Viewer sees hidden layers before wood walls/ceiling cover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 bed, rug, or finished decor yet.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17 — Kitchenette + wall panels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0:48–0:51  •  target progress 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Interior; paneling, counters, shelving/cabinet modules installed.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Saw, toolbox, brad nailer, driver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 function appears step-by-step after insulation/framing.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Not fully styled; no instant hotel room.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18 — Interior styling nearly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0:51–0:54  •  target progress 85%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Interior warm view; bed/bench textiles, rug, lighting, decor placed.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Finishing tools, lighting, textiles, decor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Multiple furnishing actions happen before final interior reveal.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Do not teleport fully complete interior from empty shell.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19 — Exterior landscaping + evening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0:54–0:57  •  target progress 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488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dusk setup; lights turn on, landscaping/cleanup completes.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Rake, light fixtures, planters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Final exterior state is earned; cabin glows but same railcar remains.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Not the final hero pullback yet.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C153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 20 — Final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0:57–1:00  •  target progress 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eckpoint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035040" cy="48321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508760"/>
            <a:ext cx="653796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7190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9E7FF"/>
                </a:solidFill>
                <a:latin typeface="Aptos"/>
              </a:rPr>
              <a:t>Visual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29968"/>
            <a:ext cx="5989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Wide cinematic dusk reveal of finished luxury railcar cabin.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80360"/>
            <a:ext cx="6537960" cy="1097280"/>
          </a:xfrm>
          <a:prstGeom prst="roundRect">
            <a:avLst/>
          </a:prstGeom>
          <a:solidFill>
            <a:srgbClr val="1A2422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9067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AE099"/>
                </a:solidFill>
                <a:latin typeface="Aptos"/>
              </a:rPr>
              <a:t>Tools/materials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F"/>
                </a:solidFill>
                <a:latin typeface="Aptos"/>
              </a:rP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6537960" cy="12344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1655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What must happen on-screen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Pure payoff: no more major building, just the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669280"/>
            <a:ext cx="6537960" cy="123444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5879592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6AA"/>
                </a:solidFill>
                <a:latin typeface="Aptos"/>
              </a:rPr>
              <a:t>Not yet / continuity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6190488"/>
            <a:ext cx="59893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Do not introduce new design elements in the final reveal.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7040880"/>
            <a:ext cx="12573000" cy="411480"/>
          </a:xfrm>
          <a:prstGeom prst="roundRect">
            <a:avLst/>
          </a:prstGeom>
          <a:solidFill>
            <a:srgbClr val="0C101C"/>
          </a:solidFill>
          <a:ln w="15240">
            <a:solidFill>
              <a:srgbClr val="2A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7168896"/>
            <a:ext cx="1211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EB5C9"/>
                </a:solidFill>
                <a:latin typeface="Aptos"/>
              </a:rPr>
              <a:t>Use as a hard visual state. Generate video only to the next nearby checkpoint — never skip multiple construction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Checkpoint-to-Clip Production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Use 20 checkpoints as visual targets; clips can combine adjacent micro-states only when logic remains clear.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400800" cy="914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153"/>
                </a:solidFill>
                <a:latin typeface="Aptos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17647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9E7FF"/>
                </a:solidFill>
                <a:latin typeface="Aptos"/>
              </a:rPr>
              <a:t>01 →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647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Hook + inspection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600200"/>
            <a:ext cx="6400800" cy="914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7647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153"/>
                </a:solidFill>
                <a:latin typeface="Aptos"/>
              </a:rPr>
              <a:t>Cleanout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9" y="17647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9E7FF"/>
                </a:solidFill>
                <a:latin typeface="Aptos"/>
              </a:rPr>
              <a:t>03 →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59" y="17647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Exterior + interior cleanup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6400800" cy="914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153"/>
                </a:solidFill>
                <a:latin typeface="Aptos"/>
              </a:rPr>
              <a:t>Openings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30906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9E7FF"/>
                </a:solidFill>
                <a:latin typeface="Aptos"/>
              </a:rPr>
              <a:t>05 →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9067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Mark, cut, reinforce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926080"/>
            <a:ext cx="6400800" cy="914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30906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153"/>
                </a:solidFill>
                <a:latin typeface="Aptos"/>
              </a:rPr>
              <a:t>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30906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9E7FF"/>
                </a:solidFill>
                <a:latin typeface="Aptos"/>
              </a:rPr>
              <a:t>09 →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59" y="309067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Supports, joists, boards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51960"/>
            <a:ext cx="6400800" cy="914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165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153"/>
                </a:solidFill>
                <a:latin typeface="Aptos"/>
              </a:rPr>
              <a:t>Exterior shell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44165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9E7FF"/>
                </a:solidFill>
                <a:latin typeface="Aptos"/>
              </a:rPr>
              <a:t>13 →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1655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Cladding, glass, entry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251960"/>
            <a:ext cx="6400800" cy="914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44165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153"/>
                </a:solidFill>
                <a:latin typeface="Aptos"/>
              </a:rPr>
              <a:t>Interior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44165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9E7FF"/>
                </a:solidFill>
                <a:latin typeface="Aptos"/>
              </a:rPr>
              <a:t>16 → 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59" y="441655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Insulation, cabinets, styling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6400800" cy="914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742431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153"/>
                </a:solidFill>
                <a:latin typeface="Aptos"/>
              </a:rPr>
              <a:t>Reveal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39" y="5742431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9E7FF"/>
                </a:solidFill>
                <a:latin typeface="Aptos"/>
              </a:rPr>
              <a:t>19 →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742431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Evening light + hero reveal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6720840"/>
            <a:ext cx="11887200" cy="68580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00200" y="6912864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AE099"/>
                </a:solidFill>
                <a:latin typeface="Aptos"/>
              </a:rPr>
              <a:t>If a clip still creates magic, split it into even smaller checkpoint transitions before changing providers.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How This Fits the FORMA Virtual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The 2D world becomes the control room for storyboard-first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6263640" cy="105156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6479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E7FF"/>
                </a:solidFill>
                <a:latin typeface="Aptos"/>
              </a:rPr>
              <a:t>Story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7568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stores the 20 checkpoints, reference images, and shot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19" y="1600200"/>
            <a:ext cx="6263640" cy="105156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19" y="176479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E7FF"/>
                </a:solidFill>
                <a:latin typeface="Aptos"/>
              </a:rPr>
              <a:t>Build Logic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207568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checks whether each transition makes physical/construction sense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6263640" cy="105156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27355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E7FF"/>
                </a:solidFill>
                <a:latin typeface="Aptos"/>
              </a:rPr>
              <a:t>Continuity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8444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compares previous frame, target checkpoint, and new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3108960"/>
            <a:ext cx="6263640" cy="105156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19" y="327355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E7FF"/>
                </a:solidFill>
                <a:latin typeface="Aptos"/>
              </a:rPr>
              <a:t>Render Bay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58444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runs approved adjacent-checkpoint generations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17720"/>
            <a:ext cx="6263640" cy="105156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7823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E7FF"/>
                </a:solidFill>
                <a:latin typeface="Aptos"/>
              </a:rPr>
              <a:t>Screening Room /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9320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waits for your approval before continuing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4617720"/>
            <a:ext cx="6263640" cy="105156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19" y="47823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E7FF"/>
                </a:solidFill>
                <a:latin typeface="Aptos"/>
              </a:rPr>
              <a:t>Sound Booth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509320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preserves source audio first; later adds foley/music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90372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C153"/>
                </a:solidFill>
                <a:latin typeface="Aptos"/>
              </a:rPr>
              <a:t>Workflow: checkpoint approved → generate transition → review output → approve &amp; continue.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Decision Gate: Current System vs. Higgsfield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The train-car video is the fair final test before switching providers.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6217920" cy="52120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AE099"/>
                </a:solidFill>
                <a:latin typeface="Aptos"/>
              </a:rPr>
              <a:t>Use current system if...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adjacent transitions stay logical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railcar identity remains stable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builder actions cause visible progress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interior/exterior do not teleport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cost per usable video is acceptable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00200"/>
            <a:ext cx="6217920" cy="5212080"/>
          </a:xfrm>
          <a:prstGeom prst="roundRect">
            <a:avLst/>
          </a:prstGeom>
          <a:solidFill>
            <a:srgbClr val="2D1422"/>
          </a:solidFill>
          <a:ln w="15240">
            <a:solidFill>
              <a:srgbClr val="9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87451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96AA"/>
                </a:solidFill>
                <a:latin typeface="Aptos"/>
              </a:rPr>
              <a:t>Switch/test Higgsfield if...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5603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one action still creates whole phases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checkpoint identity drifts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interior becomes magic again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too many retries are needed</a:t>
            </a:r>
          </a:p>
          <a:p>
            <a:pPr>
              <a:spcAft>
                <a:spcPts val="700"/>
              </a:spcAft>
              <a:defRPr sz="2000">
                <a:solidFill>
                  <a:srgbClr val="F5F7FF"/>
                </a:solidFill>
                <a:latin typeface="Aptos"/>
              </a:defRPr>
            </a:pPr>
            <a:r>
              <a:t>• quality remains unpostable despite 20 checkpoints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F"/>
                </a:solidFill>
                <a:latin typeface="Aptos"/>
              </a:rPr>
              <a:t>Immediate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EB5C9"/>
                </a:solidFill>
                <a:latin typeface="Aptos"/>
              </a:rPr>
              <a:t>Use this deck as the canonical creative plan for Video #2.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3441680" cy="18288"/>
          </a:xfrm>
          <a:prstGeom prst="rect">
            <a:avLst/>
          </a:prstGeom>
          <a:solidFill>
            <a:srgbClr val="FFC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3000" y="1417320"/>
            <a:ext cx="12344400" cy="5486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57276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4533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5F7FF"/>
                </a:solidFill>
                <a:latin typeface="Aptos"/>
              </a:rPr>
              <a:t>Put this deck + the 20-checkpoint storyboard image into docs/forma/creative/.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286000"/>
            <a:ext cx="12344400" cy="5486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44144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14015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5F7FF"/>
                </a:solidFill>
                <a:latin typeface="Aptos"/>
              </a:rPr>
              <a:t>Ask Claude to create FORMA Video #2 project state from these 20 checkpoint definitions.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154680"/>
            <a:ext cx="12344400" cy="5486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3101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8269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5F7FF"/>
                </a:solidFill>
                <a:latin typeface="Aptos"/>
              </a:rPr>
              <a:t>Generate/approve the 20 still checkpoint references before video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023359"/>
            <a:ext cx="12344400" cy="5486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178807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51375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5F7FF"/>
                </a:solidFill>
                <a:latin typeface="Aptos"/>
              </a:rPr>
              <a:t>Map adjacent checkpoints to the smallest logical video transitions.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892040"/>
            <a:ext cx="12344400" cy="5486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504748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2005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5F7FF"/>
                </a:solidFill>
                <a:latin typeface="Aptos"/>
              </a:rPr>
              <a:t>Run the current Wan/Nano pipeline through the Virtual Studio approval loop.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760720"/>
            <a:ext cx="12344400" cy="548640"/>
          </a:xfrm>
          <a:prstGeom prst="roundRect">
            <a:avLst/>
          </a:prstGeom>
          <a:solidFill>
            <a:srgbClr val="1C2233"/>
          </a:solidFill>
          <a:ln w="15240">
            <a:solidFill>
              <a:srgbClr val="4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591616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153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8873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5F7FF"/>
                </a:solidFill>
                <a:latin typeface="Aptos"/>
              </a:rPr>
              <a:t>If the current system still fails, run the same checkpoint phase through Higgsfield as the comparison test.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6949440"/>
            <a:ext cx="10972800" cy="594360"/>
          </a:xfrm>
          <a:prstGeom prst="roundRect">
            <a:avLst/>
          </a:prstGeom>
          <a:solidFill>
            <a:srgbClr val="183227"/>
          </a:solidFill>
          <a:ln w="15240">
            <a:solidFill>
              <a:srgbClr val="407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57400" y="7123176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3AE099"/>
                </a:solidFill>
                <a:latin typeface="Aptos"/>
              </a:rPr>
              <a:t>North star: no viewer should ever ask, “Wait — how did that get built?”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36040" y="781812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EB5C9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2736</Words>
  <Application>Microsoft Office PowerPoint</Application>
  <PresentationFormat>Custom</PresentationFormat>
  <Paragraphs>404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Counts, Wilder</cp:lastModifiedBy>
  <cp:revision>1</cp:revision>
  <dcterms:created xsi:type="dcterms:W3CDTF">2013-01-27T09:14:16Z</dcterms:created>
  <dcterms:modified xsi:type="dcterms:W3CDTF">2026-09-24T21:55:31Z</dcterms:modified>
  <cp:category/>
</cp:coreProperties>
</file>